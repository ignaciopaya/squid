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-20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01-09-18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01-09-18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01-09-18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01-09-18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01-09-18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01-09-18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01-09-18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01-09-18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01-09-18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01-09-18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01-09-18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01-09-18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219200"/>
            <a:ext cx="7772400" cy="1470025"/>
          </a:xfrm>
        </p:spPr>
        <p:txBody>
          <a:bodyPr/>
          <a:lstStyle/>
          <a:p>
            <a:r>
              <a:rPr lang="en-US" dirty="0" smtClean="0"/>
              <a:t>A quick review of the proposed jumbo flying squid models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P.L. Cordue, ISL</a:t>
            </a:r>
          </a:p>
          <a:p>
            <a:r>
              <a:rPr lang="en-US" dirty="0" smtClean="0"/>
              <a:t>31 August 2018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374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Acknowledgements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Thanks to SPRFMO and NZ HSG for funding my participation in SC 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29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Presentation 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quick summary of each model:</a:t>
            </a:r>
          </a:p>
          <a:p>
            <a:pPr lvl="1"/>
            <a:r>
              <a:rPr lang="en-US" dirty="0" smtClean="0"/>
              <a:t>Purpose</a:t>
            </a:r>
          </a:p>
          <a:p>
            <a:pPr lvl="1"/>
            <a:r>
              <a:rPr lang="en-US" dirty="0" smtClean="0"/>
              <a:t>Scope</a:t>
            </a:r>
          </a:p>
          <a:p>
            <a:pPr lvl="1"/>
            <a:r>
              <a:rPr lang="en-US" dirty="0" smtClean="0"/>
              <a:t>Main features</a:t>
            </a:r>
          </a:p>
          <a:p>
            <a:pPr lvl="1"/>
            <a:r>
              <a:rPr lang="en-US" dirty="0" smtClean="0"/>
              <a:t>Potential issues</a:t>
            </a:r>
          </a:p>
          <a:p>
            <a:pPr lvl="1"/>
            <a:r>
              <a:rPr lang="en-US" dirty="0" smtClean="0"/>
              <a:t>Possible solutions</a:t>
            </a:r>
          </a:p>
          <a:p>
            <a:r>
              <a:rPr lang="en-US" dirty="0" smtClean="0"/>
              <a:t>Thoughts on the way forward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299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Jumbo flying squid (JFS) model papers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SC6-SQ05: </a:t>
            </a:r>
          </a:p>
          <a:p>
            <a:pPr lvl="1"/>
            <a:r>
              <a:rPr lang="en-NZ" dirty="0" smtClean="0"/>
              <a:t>Depletion </a:t>
            </a:r>
            <a:r>
              <a:rPr lang="en-NZ" dirty="0"/>
              <a:t>models with successive pulses of Humboldt squid (</a:t>
            </a:r>
            <a:r>
              <a:rPr lang="en-NZ" i="1" dirty="0" err="1"/>
              <a:t>Dosidicus</a:t>
            </a:r>
            <a:r>
              <a:rPr lang="en-NZ" i="1" dirty="0"/>
              <a:t> </a:t>
            </a:r>
            <a:r>
              <a:rPr lang="en-NZ" i="1" dirty="0" err="1"/>
              <a:t>gigas</a:t>
            </a:r>
            <a:r>
              <a:rPr lang="en-NZ" dirty="0"/>
              <a:t>) in coastal waters off Central Chile </a:t>
            </a:r>
            <a:endParaRPr lang="en-NZ" dirty="0" smtClean="0"/>
          </a:p>
          <a:p>
            <a:r>
              <a:rPr lang="en-NZ" dirty="0" smtClean="0"/>
              <a:t>SC6-SQ06: </a:t>
            </a:r>
          </a:p>
          <a:p>
            <a:pPr lvl="1"/>
            <a:r>
              <a:rPr lang="en-NZ" dirty="0" smtClean="0"/>
              <a:t>A </a:t>
            </a:r>
            <a:r>
              <a:rPr lang="en-NZ" dirty="0"/>
              <a:t>size-structured model for jumbo squid (</a:t>
            </a:r>
            <a:r>
              <a:rPr lang="en-NZ" i="1" dirty="0" err="1"/>
              <a:t>Dosidicus</a:t>
            </a:r>
            <a:r>
              <a:rPr lang="en-NZ" i="1" dirty="0"/>
              <a:t> </a:t>
            </a:r>
            <a:r>
              <a:rPr lang="en-NZ" i="1" dirty="0" err="1"/>
              <a:t>gigas</a:t>
            </a:r>
            <a:r>
              <a:rPr lang="en-NZ" dirty="0"/>
              <a:t>) in South-east Pacific </a:t>
            </a:r>
            <a:endParaRPr lang="en-NZ" dirty="0" smtClean="0"/>
          </a:p>
          <a:p>
            <a:r>
              <a:rPr lang="en-NZ" dirty="0" smtClean="0"/>
              <a:t>SC6-SQ07: </a:t>
            </a:r>
          </a:p>
          <a:p>
            <a:pPr lvl="1"/>
            <a:r>
              <a:rPr lang="en-NZ" dirty="0" smtClean="0"/>
              <a:t>A </a:t>
            </a:r>
            <a:r>
              <a:rPr lang="en-NZ" dirty="0"/>
              <a:t>stock assessment method for jumbo flying squid (</a:t>
            </a:r>
            <a:r>
              <a:rPr lang="en-NZ" i="1" dirty="0" err="1"/>
              <a:t>Dosidicus</a:t>
            </a:r>
            <a:r>
              <a:rPr lang="en-NZ" i="1" dirty="0"/>
              <a:t> </a:t>
            </a:r>
            <a:r>
              <a:rPr lang="en-NZ" i="1" dirty="0" err="1"/>
              <a:t>gigas</a:t>
            </a:r>
            <a:r>
              <a:rPr lang="en-NZ" dirty="0"/>
              <a:t>) in </a:t>
            </a:r>
            <a:r>
              <a:rPr lang="en-NZ" dirty="0" smtClean="0"/>
              <a:t>Peruvian waters </a:t>
            </a:r>
            <a:r>
              <a:rPr lang="en-NZ" dirty="0"/>
              <a:t>and its possible extension to the wider SPRFMO Convention </a:t>
            </a:r>
            <a:r>
              <a:rPr lang="en-NZ" dirty="0" smtClean="0"/>
              <a:t>area</a:t>
            </a:r>
          </a:p>
          <a:p>
            <a:r>
              <a:rPr lang="en-NZ" dirty="0" smtClean="0"/>
              <a:t>SC6-SQ08-09: </a:t>
            </a:r>
          </a:p>
          <a:p>
            <a:pPr lvl="1"/>
            <a:r>
              <a:rPr lang="en-US" dirty="0" err="1" smtClean="0"/>
              <a:t>SquidSIM</a:t>
            </a:r>
            <a:r>
              <a:rPr lang="en-US" dirty="0"/>
              <a:t>, Squid Simulator, Version 1.0 </a:t>
            </a:r>
          </a:p>
        </p:txBody>
      </p:sp>
    </p:spTree>
    <p:extLst>
      <p:ext uri="{BB962C8B-B14F-4D97-AF65-F5344CB8AC3E}">
        <p14:creationId xmlns:p14="http://schemas.microsoft.com/office/powerpoint/2010/main" val="3125602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SC6-SQ05: Depletion models (Chile)(1)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82000" cy="483076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Purpose, scope:</a:t>
            </a:r>
          </a:p>
          <a:p>
            <a:pPr lvl="1"/>
            <a:r>
              <a:rPr lang="en-US" dirty="0" smtClean="0"/>
              <a:t>Stock assessment of JFS in Chilean waters (only immature squid found)</a:t>
            </a:r>
          </a:p>
          <a:p>
            <a:r>
              <a:rPr lang="en-US" dirty="0" smtClean="0"/>
              <a:t>Main features</a:t>
            </a:r>
          </a:p>
          <a:p>
            <a:pPr lvl="1"/>
            <a:r>
              <a:rPr lang="en-US" dirty="0" smtClean="0"/>
              <a:t>Age based, weekly cycle, short time period (1 year)</a:t>
            </a:r>
          </a:p>
          <a:p>
            <a:pPr lvl="1"/>
            <a:r>
              <a:rPr lang="en-US" dirty="0" smtClean="0"/>
              <a:t>Multiple cohorts within one model (entry time decided by eye-balling changes in CPUE and mean squid weight)</a:t>
            </a:r>
          </a:p>
          <a:p>
            <a:pPr lvl="1"/>
            <a:r>
              <a:rPr lang="en-US" dirty="0" smtClean="0"/>
              <a:t>Fitting to CPUE</a:t>
            </a:r>
          </a:p>
          <a:p>
            <a:pPr lvl="1"/>
            <a:r>
              <a:rPr lang="en-US" dirty="0" smtClean="0"/>
              <a:t>Estimating biomass and M</a:t>
            </a:r>
          </a:p>
        </p:txBody>
      </p:sp>
    </p:spTree>
    <p:extLst>
      <p:ext uri="{BB962C8B-B14F-4D97-AF65-F5344CB8AC3E}">
        <p14:creationId xmlns:p14="http://schemas.microsoft.com/office/powerpoint/2010/main" val="1877707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SC6-SQ05: Depletion models (Chile)(2)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458200" cy="51816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Potential issues</a:t>
            </a:r>
          </a:p>
          <a:p>
            <a:pPr lvl="1"/>
            <a:r>
              <a:rPr lang="en-US" dirty="0" smtClean="0"/>
              <a:t>Immigration / emigration of squid for a given cohort</a:t>
            </a:r>
          </a:p>
          <a:p>
            <a:pPr lvl="1"/>
            <a:r>
              <a:rPr lang="en-US" dirty="0" smtClean="0"/>
              <a:t>CPUE unreliable as biomass/abundance indices</a:t>
            </a:r>
          </a:p>
          <a:p>
            <a:pPr lvl="1"/>
            <a:r>
              <a:rPr lang="en-US" dirty="0" smtClean="0"/>
              <a:t>No information with which to estimate M (even if CPUE provides relative abundance we can only estimate Z = F + M; need to know M to estimate F)</a:t>
            </a:r>
          </a:p>
          <a:p>
            <a:pPr lvl="1"/>
            <a:r>
              <a:rPr lang="en-US" dirty="0" smtClean="0"/>
              <a:t>Manual/ad hoc estimation of timing of entry of each cohort</a:t>
            </a:r>
            <a:endParaRPr lang="en-US" dirty="0"/>
          </a:p>
          <a:p>
            <a:r>
              <a:rPr lang="en-US" dirty="0" smtClean="0"/>
              <a:t>Possible solutions</a:t>
            </a:r>
          </a:p>
          <a:p>
            <a:pPr lvl="1"/>
            <a:r>
              <a:rPr lang="en-US" dirty="0" smtClean="0"/>
              <a:t>Detailed analysis of catch and effort data to support the use of CPUE as abundance </a:t>
            </a:r>
            <a:r>
              <a:rPr lang="en-US" dirty="0" smtClean="0"/>
              <a:t>indices</a:t>
            </a:r>
          </a:p>
          <a:p>
            <a:pPr lvl="1"/>
            <a:r>
              <a:rPr lang="en-US" dirty="0"/>
              <a:t>A random jig survey by the </a:t>
            </a:r>
            <a:r>
              <a:rPr lang="en-US" dirty="0" smtClean="0"/>
              <a:t>artisanal fleet </a:t>
            </a:r>
            <a:r>
              <a:rPr lang="en-US" dirty="0"/>
              <a:t>one night every month to obtain defensible relative biomass indices and to test if CPUE indices are </a:t>
            </a:r>
            <a:r>
              <a:rPr lang="en-US" dirty="0" smtClean="0"/>
              <a:t>adequate</a:t>
            </a:r>
            <a:endParaRPr lang="en-US" dirty="0" smtClean="0"/>
          </a:p>
          <a:p>
            <a:pPr lvl="1"/>
            <a:r>
              <a:rPr lang="en-US" dirty="0" smtClean="0"/>
              <a:t>Three runs with fixed values of M: best guess, low value, high value (to capture uncertainty)</a:t>
            </a:r>
          </a:p>
          <a:p>
            <a:pPr lvl="1"/>
            <a:r>
              <a:rPr lang="en-US" dirty="0" smtClean="0"/>
              <a:t>Fit to length frequencies as well as CPUE to estimate the strength and timing of weekly cohorts (can have zero cohorts)(might be best to switch from a week to a month)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665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r>
              <a:rPr lang="en-US" dirty="0" smtClean="0"/>
              <a:t>SC6-SQ06: Length only (China)(1)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82000" cy="483076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Purpose, scope:</a:t>
            </a:r>
          </a:p>
          <a:p>
            <a:pPr lvl="1"/>
            <a:r>
              <a:rPr lang="en-US" dirty="0" smtClean="0"/>
              <a:t>Stock assessment of JFS in Southeast Pacific</a:t>
            </a:r>
          </a:p>
          <a:p>
            <a:r>
              <a:rPr lang="en-US" dirty="0" smtClean="0"/>
              <a:t>Main features</a:t>
            </a:r>
          </a:p>
          <a:p>
            <a:pPr lvl="1"/>
            <a:r>
              <a:rPr lang="en-US" dirty="0" smtClean="0"/>
              <a:t>A model that has been used for short-lived species</a:t>
            </a:r>
          </a:p>
          <a:p>
            <a:pPr lvl="1"/>
            <a:r>
              <a:rPr lang="en-US" dirty="0" smtClean="0"/>
              <a:t>Length based, 3 month cycle, whole history assessed (many years)</a:t>
            </a:r>
          </a:p>
          <a:p>
            <a:pPr lvl="1"/>
            <a:r>
              <a:rPr lang="en-US" dirty="0" smtClean="0"/>
              <a:t>Annual recruitment divided across seasons using fixed proportions</a:t>
            </a:r>
          </a:p>
          <a:p>
            <a:pPr lvl="1"/>
            <a:r>
              <a:rPr lang="en-US" dirty="0" smtClean="0"/>
              <a:t>Maturity at length has to be specified</a:t>
            </a:r>
          </a:p>
          <a:p>
            <a:pPr lvl="1"/>
            <a:r>
              <a:rPr lang="en-US" dirty="0" smtClean="0"/>
              <a:t>Fitting to CPUE and length frequencies</a:t>
            </a:r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6460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SC6-SQ06: Length only (China)(2)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82000" cy="5105400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Potential issues:</a:t>
            </a:r>
          </a:p>
          <a:p>
            <a:pPr lvl="1"/>
            <a:r>
              <a:rPr lang="en-US" dirty="0" smtClean="0"/>
              <a:t>Scope is too broad</a:t>
            </a:r>
          </a:p>
          <a:p>
            <a:pPr lvl="2"/>
            <a:r>
              <a:rPr lang="en-US" dirty="0" smtClean="0"/>
              <a:t>Stock structure uncertain</a:t>
            </a:r>
          </a:p>
          <a:p>
            <a:pPr lvl="2"/>
            <a:r>
              <a:rPr lang="en-US" dirty="0" smtClean="0"/>
              <a:t>Major changes in distribution of squid driven by environmental conditions</a:t>
            </a:r>
          </a:p>
          <a:p>
            <a:pPr lvl="2"/>
            <a:r>
              <a:rPr lang="en-US" dirty="0" smtClean="0"/>
              <a:t>Multiple phenotypes</a:t>
            </a:r>
          </a:p>
          <a:p>
            <a:pPr lvl="2"/>
            <a:r>
              <a:rPr lang="en-US" dirty="0" smtClean="0"/>
              <a:t>Changes in proportion mature at length over time</a:t>
            </a:r>
          </a:p>
          <a:p>
            <a:pPr lvl="2"/>
            <a:r>
              <a:rPr lang="en-US" dirty="0" smtClean="0"/>
              <a:t>Changes in seasonal recruitment proportions from year to year</a:t>
            </a:r>
          </a:p>
          <a:p>
            <a:pPr lvl="1"/>
            <a:r>
              <a:rPr lang="en-US" dirty="0" smtClean="0"/>
              <a:t>CPUE unreliable as biomass/abundance indices</a:t>
            </a:r>
          </a:p>
          <a:p>
            <a:r>
              <a:rPr lang="en-US" dirty="0" smtClean="0"/>
              <a:t>Possible solutions</a:t>
            </a:r>
          </a:p>
          <a:p>
            <a:pPr lvl="1"/>
            <a:r>
              <a:rPr lang="en-US" dirty="0" smtClean="0"/>
              <a:t>Perhaps applicable to the off-shore JFS fished by China (if it is a single stock; one phenotype: small sizes including immature and mature squid)</a:t>
            </a:r>
          </a:p>
          <a:p>
            <a:pPr lvl="1"/>
            <a:r>
              <a:rPr lang="en-US" dirty="0" smtClean="0"/>
              <a:t>Need to be able to estimate proportion mature at length</a:t>
            </a:r>
          </a:p>
          <a:p>
            <a:pPr lvl="1"/>
            <a:r>
              <a:rPr lang="en-US" dirty="0" smtClean="0"/>
              <a:t>Need to be able to estimate seasonal recruitment strengths</a:t>
            </a:r>
          </a:p>
          <a:p>
            <a:pPr lvl="1"/>
            <a:r>
              <a:rPr lang="en-US" dirty="0"/>
              <a:t>Detailed analysis of catch and effort data </a:t>
            </a:r>
            <a:r>
              <a:rPr lang="en-US" dirty="0" smtClean="0"/>
              <a:t>in an attempt to </a:t>
            </a:r>
            <a:r>
              <a:rPr lang="en-US" dirty="0"/>
              <a:t>support the use of CPUE as abundance </a:t>
            </a:r>
            <a:r>
              <a:rPr lang="en-US" dirty="0" smtClean="0"/>
              <a:t>indices</a:t>
            </a:r>
          </a:p>
          <a:p>
            <a:pPr lvl="1"/>
            <a:r>
              <a:rPr lang="en-US" dirty="0"/>
              <a:t>A</a:t>
            </a:r>
            <a:r>
              <a:rPr lang="en-US" dirty="0" smtClean="0"/>
              <a:t> </a:t>
            </a:r>
            <a:r>
              <a:rPr lang="en-US" dirty="0" smtClean="0"/>
              <a:t>random jig survey </a:t>
            </a:r>
            <a:r>
              <a:rPr lang="en-US" dirty="0" smtClean="0"/>
              <a:t>by the commercial fleet one </a:t>
            </a:r>
            <a:r>
              <a:rPr lang="en-US" dirty="0" smtClean="0"/>
              <a:t>night every </a:t>
            </a:r>
            <a:r>
              <a:rPr lang="en-US" dirty="0" smtClean="0"/>
              <a:t>month </a:t>
            </a:r>
            <a:r>
              <a:rPr lang="en-US" dirty="0" smtClean="0"/>
              <a:t>to obtain defensible relative biomass </a:t>
            </a:r>
            <a:r>
              <a:rPr lang="en-US" dirty="0" smtClean="0"/>
              <a:t>indices and to test if CPUE indices are adequate</a:t>
            </a:r>
            <a:endParaRPr lang="en-US" dirty="0" smtClean="0"/>
          </a:p>
          <a:p>
            <a:pPr lvl="1"/>
            <a:r>
              <a:rPr lang="en-US" dirty="0" smtClean="0"/>
              <a:t>Occasional a</a:t>
            </a:r>
            <a:r>
              <a:rPr lang="en-US" dirty="0" smtClean="0"/>
              <a:t>coustic </a:t>
            </a:r>
            <a:r>
              <a:rPr lang="en-US" dirty="0" smtClean="0"/>
              <a:t>surveys using commercial vessels to obtain information on the scale of the biomass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763360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r>
              <a:rPr lang="en-US" dirty="0" smtClean="0"/>
              <a:t>SC6-SQ07: Age structured (Peru)(1)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82000" cy="4830763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Purpose, scope:</a:t>
            </a:r>
          </a:p>
          <a:p>
            <a:pPr lvl="1"/>
            <a:r>
              <a:rPr lang="en-US" dirty="0" smtClean="0"/>
              <a:t>Stock assessment of JFS in Peruvian waters (at least 3 phenotypes: different ages at maturity)</a:t>
            </a:r>
          </a:p>
          <a:p>
            <a:r>
              <a:rPr lang="en-US" dirty="0" smtClean="0"/>
              <a:t>Main features</a:t>
            </a:r>
          </a:p>
          <a:p>
            <a:pPr lvl="1"/>
            <a:r>
              <a:rPr lang="en-US" dirty="0" smtClean="0"/>
              <a:t>Age based, monthly cycle, short time period (1-3 years)</a:t>
            </a:r>
          </a:p>
          <a:p>
            <a:pPr lvl="1"/>
            <a:r>
              <a:rPr lang="en-US" dirty="0" smtClean="0"/>
              <a:t>Estimating biomass in the area during the time period</a:t>
            </a:r>
          </a:p>
          <a:p>
            <a:pPr lvl="1"/>
            <a:r>
              <a:rPr lang="en-US" dirty="0" smtClean="0"/>
              <a:t>Three phenotypes modelled as separate “stocks” but results combined into a single “stock”</a:t>
            </a:r>
          </a:p>
          <a:p>
            <a:pPr lvl="1"/>
            <a:r>
              <a:rPr lang="en-US" dirty="0"/>
              <a:t>M</a:t>
            </a:r>
            <a:r>
              <a:rPr lang="en-US" dirty="0" smtClean="0"/>
              <a:t>aturity and recruitment strengths estimated for each phenotype</a:t>
            </a:r>
          </a:p>
          <a:p>
            <a:pPr lvl="1"/>
            <a:r>
              <a:rPr lang="en-US" dirty="0" smtClean="0"/>
              <a:t>Age and maturity based selectivities estimated for each fishery</a:t>
            </a:r>
          </a:p>
          <a:p>
            <a:pPr lvl="1"/>
            <a:r>
              <a:rPr lang="en-US" dirty="0" smtClean="0"/>
              <a:t>Fitting to acoustic biomass estimates, length frequencies, and maturity data</a:t>
            </a:r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59440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SC6-SQ07: Age structured (Peru)(2)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382000" cy="52578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Potential issues:</a:t>
            </a:r>
          </a:p>
          <a:p>
            <a:pPr lvl="1"/>
            <a:r>
              <a:rPr lang="en-US" dirty="0" smtClean="0"/>
              <a:t>Manual/ad hoc choice of time periods to assess (based on stable distribution of squid and environmental conditions)</a:t>
            </a:r>
          </a:p>
          <a:p>
            <a:pPr lvl="1"/>
            <a:r>
              <a:rPr lang="en-US" dirty="0" smtClean="0"/>
              <a:t>Acoustic biomass estimates required to provide information on the scale of the biomass but JFS target strength very uncertain</a:t>
            </a:r>
          </a:p>
          <a:p>
            <a:pPr lvl="1"/>
            <a:r>
              <a:rPr lang="en-US" dirty="0" smtClean="0"/>
              <a:t>Possible exploitation of juveniles in Chilean waters</a:t>
            </a:r>
          </a:p>
          <a:p>
            <a:r>
              <a:rPr lang="en-US" dirty="0" smtClean="0"/>
              <a:t>Possible solutions:</a:t>
            </a:r>
          </a:p>
          <a:p>
            <a:pPr lvl="1"/>
            <a:r>
              <a:rPr lang="en-US" dirty="0" smtClean="0"/>
              <a:t>Review of JFS length target strength relationships to determine best relationship and low and high relationships for sensitivity runs</a:t>
            </a:r>
          </a:p>
          <a:p>
            <a:pPr lvl="1"/>
            <a:r>
              <a:rPr lang="en-US" dirty="0" smtClean="0"/>
              <a:t>Incorporate Chilean catches and data into the model (add another fishery in a separate area)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687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SC6-SQ07: Squid simulator (Chile)(1)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82000" cy="498316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Purpose, scope:</a:t>
            </a:r>
          </a:p>
          <a:p>
            <a:pPr lvl="1"/>
            <a:r>
              <a:rPr lang="en-US" dirty="0" smtClean="0"/>
              <a:t>Simulation of JFS in Chilean waters (only immature squid); potential use as an operating model</a:t>
            </a:r>
          </a:p>
          <a:p>
            <a:r>
              <a:rPr lang="en-US" dirty="0" smtClean="0"/>
              <a:t>Main features</a:t>
            </a:r>
          </a:p>
          <a:p>
            <a:pPr lvl="1"/>
            <a:r>
              <a:rPr lang="en-US" dirty="0" smtClean="0"/>
              <a:t>Age based, monthly cycle</a:t>
            </a:r>
          </a:p>
          <a:p>
            <a:pPr lvl="1"/>
            <a:r>
              <a:rPr lang="en-US" dirty="0" smtClean="0"/>
              <a:t>Single sex</a:t>
            </a:r>
          </a:p>
          <a:p>
            <a:pPr lvl="1"/>
            <a:r>
              <a:rPr lang="en-US" dirty="0" smtClean="0"/>
              <a:t>BH and Ricker stock recruitment relationships</a:t>
            </a:r>
          </a:p>
          <a:p>
            <a:pPr lvl="1"/>
            <a:r>
              <a:rPr lang="en-US" dirty="0" smtClean="0"/>
              <a:t>Different patterns of recruitment with random deviations</a:t>
            </a:r>
          </a:p>
          <a:p>
            <a:pPr lvl="1"/>
            <a:r>
              <a:rPr lang="en-US" dirty="0" smtClean="0"/>
              <a:t>Logistic maturity</a:t>
            </a:r>
          </a:p>
          <a:p>
            <a:pPr lvl="1"/>
            <a:r>
              <a:rPr lang="en-US" dirty="0" smtClean="0"/>
              <a:t>Double normal selectivity</a:t>
            </a:r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57395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SC6-SQ07: Squid simulator (Chile)(2)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382000" cy="52578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Potential issues:</a:t>
            </a:r>
          </a:p>
          <a:p>
            <a:pPr lvl="1"/>
            <a:r>
              <a:rPr lang="en-US" dirty="0" smtClean="0"/>
              <a:t>Perhaps not complex enough for an operating model (even for Chilean waters):</a:t>
            </a:r>
          </a:p>
          <a:p>
            <a:pPr lvl="2"/>
            <a:r>
              <a:rPr lang="en-US" dirty="0" smtClean="0"/>
              <a:t>Two sexes would be desirable (major differences in sex ratio between fisheries; possibly different migration ogives to spawning grounds)</a:t>
            </a:r>
          </a:p>
          <a:p>
            <a:pPr lvl="2"/>
            <a:r>
              <a:rPr lang="en-US" dirty="0" smtClean="0"/>
              <a:t>Age and </a:t>
            </a:r>
            <a:r>
              <a:rPr lang="en-US" i="1" dirty="0" smtClean="0"/>
              <a:t>length</a:t>
            </a:r>
            <a:r>
              <a:rPr lang="en-US" dirty="0" smtClean="0"/>
              <a:t> are probably required as length at age can change because of length-based processes</a:t>
            </a:r>
          </a:p>
          <a:p>
            <a:pPr lvl="2"/>
            <a:r>
              <a:rPr lang="en-US" dirty="0" smtClean="0"/>
              <a:t>Cannibalism is a feature that should probably be modelled; driven by length</a:t>
            </a:r>
          </a:p>
          <a:p>
            <a:pPr lvl="1"/>
            <a:r>
              <a:rPr lang="en-US" dirty="0" smtClean="0"/>
              <a:t>There is probably exploitation of mature squid from the “Chilean stock” outside of Chilean waters</a:t>
            </a:r>
          </a:p>
          <a:p>
            <a:r>
              <a:rPr lang="en-US" dirty="0" smtClean="0"/>
              <a:t>Possible solutions:</a:t>
            </a:r>
          </a:p>
          <a:p>
            <a:pPr lvl="1"/>
            <a:r>
              <a:rPr lang="en-US" dirty="0" smtClean="0"/>
              <a:t>Move to a two-sex, age and length based model</a:t>
            </a:r>
          </a:p>
          <a:p>
            <a:pPr lvl="1"/>
            <a:r>
              <a:rPr lang="en-US" dirty="0" smtClean="0"/>
              <a:t>Model length-based cannibalism </a:t>
            </a:r>
          </a:p>
          <a:p>
            <a:pPr lvl="1"/>
            <a:r>
              <a:rPr lang="en-US" dirty="0" smtClean="0"/>
              <a:t>Include </a:t>
            </a:r>
            <a:r>
              <a:rPr lang="en-US" dirty="0"/>
              <a:t>a fishery on mature squid 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926693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 smtClean="0"/>
              <a:t>Thoughts on the way forward (1)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The fisheries for JFS are very different off Peru, Chile, and in oceanic waters:</a:t>
            </a:r>
          </a:p>
          <a:p>
            <a:pPr lvl="1"/>
            <a:r>
              <a:rPr lang="en-US" dirty="0" smtClean="0"/>
              <a:t>At least three phenotypes in Peruvian waters</a:t>
            </a:r>
          </a:p>
          <a:p>
            <a:pPr lvl="1"/>
            <a:r>
              <a:rPr lang="en-US" dirty="0" smtClean="0"/>
              <a:t>Only immature squid in Chilean waters</a:t>
            </a:r>
          </a:p>
          <a:p>
            <a:pPr lvl="1"/>
            <a:r>
              <a:rPr lang="en-US" dirty="0" smtClean="0"/>
              <a:t>Typically only early maturing/small squid in oceanic waters</a:t>
            </a:r>
          </a:p>
          <a:p>
            <a:r>
              <a:rPr lang="en-US" dirty="0" smtClean="0"/>
              <a:t>Stock structure is very uncertain and will hopefully become clearer with proposed genetic work but some working hypotheses should be settled on for stock assessment. For example:</a:t>
            </a:r>
          </a:p>
          <a:p>
            <a:pPr lvl="1"/>
            <a:r>
              <a:rPr lang="en-US" dirty="0" smtClean="0"/>
              <a:t>Oceanic squid as a single stock with another single stock (with multiple phenotypes) off Peru (immature and mature squid) and Chile (immature squid only)</a:t>
            </a:r>
          </a:p>
          <a:p>
            <a:pPr lvl="1"/>
            <a:r>
              <a:rPr lang="en-US" dirty="0" smtClean="0"/>
              <a:t>A single Southeast Pacific stock with multiple phenotypes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532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 smtClean="0"/>
              <a:t>Thoughts on the way forward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05800" cy="4830763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Defensible biomass indices are needed:</a:t>
            </a:r>
          </a:p>
          <a:p>
            <a:pPr lvl="1"/>
            <a:r>
              <a:rPr lang="en-US" dirty="0" smtClean="0"/>
              <a:t>CPUE may </a:t>
            </a:r>
            <a:r>
              <a:rPr lang="en-US" dirty="0" smtClean="0"/>
              <a:t>perhaps be defensible for </a:t>
            </a:r>
            <a:r>
              <a:rPr lang="en-US" dirty="0" smtClean="0"/>
              <a:t>Chile and oceanic waters (not a candidate for Peruvian waters – vast differences in CPUE and the trend from acoustic surveys)</a:t>
            </a:r>
          </a:p>
          <a:p>
            <a:pPr lvl="1"/>
            <a:r>
              <a:rPr lang="en-US" dirty="0" smtClean="0"/>
              <a:t>CPUE indices if proposed must be supported by detailed analysis of catch and effort data (including the spatial distribution of catches over time)</a:t>
            </a:r>
          </a:p>
          <a:p>
            <a:pPr lvl="1"/>
            <a:r>
              <a:rPr lang="en-US" dirty="0" smtClean="0"/>
              <a:t>Random jig surveys using the commercial fleet (e.g., 1 night each month) may be a good </a:t>
            </a:r>
            <a:r>
              <a:rPr lang="en-US" dirty="0" smtClean="0"/>
              <a:t>alternative and can be used to test if CPUE provides relative biomass indices</a:t>
            </a:r>
            <a:endParaRPr lang="en-US" dirty="0" smtClean="0"/>
          </a:p>
          <a:p>
            <a:pPr lvl="1"/>
            <a:r>
              <a:rPr lang="en-US" dirty="0" smtClean="0"/>
              <a:t>Acoustic surveys from commercial vessels may be </a:t>
            </a:r>
            <a:r>
              <a:rPr lang="en-US" dirty="0" smtClean="0"/>
              <a:t>a possibility in </a:t>
            </a:r>
            <a:r>
              <a:rPr lang="en-US" dirty="0" smtClean="0"/>
              <a:t>oceanic waters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2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 smtClean="0"/>
              <a:t>Thoughts on the way forward (3)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Different stock assessment methods can be used in the different areas:</a:t>
            </a:r>
          </a:p>
          <a:p>
            <a:pPr lvl="1"/>
            <a:r>
              <a:rPr lang="en-US" dirty="0" smtClean="0"/>
              <a:t>Age based models </a:t>
            </a:r>
            <a:r>
              <a:rPr lang="en-US" dirty="0" smtClean="0"/>
              <a:t>should be </a:t>
            </a:r>
            <a:r>
              <a:rPr lang="en-US" dirty="0" smtClean="0"/>
              <a:t>preferred </a:t>
            </a:r>
          </a:p>
          <a:p>
            <a:pPr lvl="2"/>
            <a:r>
              <a:rPr lang="en-US" dirty="0" smtClean="0"/>
              <a:t>No strong </a:t>
            </a:r>
            <a:r>
              <a:rPr lang="en-US" dirty="0" smtClean="0"/>
              <a:t>length-based processes (e.g., minimum legal size</a:t>
            </a:r>
            <a:r>
              <a:rPr lang="en-US" dirty="0" smtClean="0"/>
              <a:t>) needed in the stock assessment model so length structure for a given age does not change over time</a:t>
            </a:r>
          </a:p>
          <a:p>
            <a:pPr lvl="2"/>
            <a:r>
              <a:rPr lang="en-US" dirty="0" smtClean="0"/>
              <a:t>Length only models are less than ideal for growth and maturity (should only be preferred if there are strong length-based processes in the stock assessment model which modify the length structure for given age over time)</a:t>
            </a:r>
            <a:endParaRPr lang="en-US" dirty="0" smtClean="0"/>
          </a:p>
          <a:p>
            <a:pPr lvl="1"/>
            <a:r>
              <a:rPr lang="en-US" dirty="0" smtClean="0"/>
              <a:t>In Peruvian waters there are multiple phenotypes </a:t>
            </a:r>
            <a:r>
              <a:rPr lang="en-US" dirty="0" smtClean="0"/>
              <a:t>which must be modelled</a:t>
            </a:r>
            <a:endParaRPr lang="en-US" dirty="0" smtClean="0"/>
          </a:p>
          <a:p>
            <a:pPr lvl="1"/>
            <a:r>
              <a:rPr lang="en-US" dirty="0" smtClean="0"/>
              <a:t>Simpler models can be used when only one phenotype is present at a time (e.g., oceanic waters and perhaps Chilean waters)</a:t>
            </a:r>
          </a:p>
        </p:txBody>
      </p:sp>
    </p:spTree>
    <p:extLst>
      <p:ext uri="{BB962C8B-B14F-4D97-AF65-F5344CB8AC3E}">
        <p14:creationId xmlns:p14="http://schemas.microsoft.com/office/powerpoint/2010/main" val="10242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 smtClean="0"/>
              <a:t>Thoughts on the way forward (4)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Eventually an operating model (or two) would be useful for Management Strategy Evaluation</a:t>
            </a:r>
          </a:p>
          <a:p>
            <a:r>
              <a:rPr lang="en-US" dirty="0"/>
              <a:t>Should be age and length based with two sexes </a:t>
            </a:r>
            <a:r>
              <a:rPr lang="en-US"/>
              <a:t>and </a:t>
            </a:r>
            <a:r>
              <a:rPr lang="en-US" smtClean="0"/>
              <a:t>include cannibalism</a:t>
            </a:r>
            <a:endParaRPr lang="en-US" dirty="0"/>
          </a:p>
          <a:p>
            <a:r>
              <a:rPr lang="en-US" dirty="0" smtClean="0"/>
              <a:t>Can be reasonably simple in Chilean waters where there is perhaps just one phenotype and no mature squid (but note the possible interaction with management in Peru)</a:t>
            </a:r>
          </a:p>
          <a:p>
            <a:r>
              <a:rPr lang="en-US" dirty="0" smtClean="0"/>
              <a:t>Will necessarily be much more complicated for a Southeast Pacific stock(s) as it must deal with multiple phenotypes and areas</a:t>
            </a:r>
          </a:p>
        </p:txBody>
      </p:sp>
    </p:spTree>
    <p:extLst>
      <p:ext uri="{BB962C8B-B14F-4D97-AF65-F5344CB8AC3E}">
        <p14:creationId xmlns:p14="http://schemas.microsoft.com/office/powerpoint/2010/main" val="10242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1403</Words>
  <Application>Microsoft Office PowerPoint</Application>
  <PresentationFormat>On-screen Show (4:3)</PresentationFormat>
  <Paragraphs>138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A quick review of the proposed jumbo flying squid models</vt:lpstr>
      <vt:lpstr>Acknowledgements</vt:lpstr>
      <vt:lpstr>Presentation structure</vt:lpstr>
      <vt:lpstr>Jumbo flying squid (JFS) model papers</vt:lpstr>
      <vt:lpstr>SC6-SQ05: Depletion models (Chile)(1)</vt:lpstr>
      <vt:lpstr>SC6-SQ05: Depletion models (Chile)(2)</vt:lpstr>
      <vt:lpstr>SC6-SQ06: Length only (China)(1)</vt:lpstr>
      <vt:lpstr>SC6-SQ06: Length only (China)(2)</vt:lpstr>
      <vt:lpstr>SC6-SQ07: Age structured (Peru)(1)</vt:lpstr>
      <vt:lpstr>SC6-SQ07: Age structured (Peru)(2)</vt:lpstr>
      <vt:lpstr>SC6-SQ07: Squid simulator (Chile)(1)</vt:lpstr>
      <vt:lpstr>SC6-SQ07: Squid simulator (Chile)(2)</vt:lpstr>
      <vt:lpstr>Thoughts on the way forward (1)</vt:lpstr>
      <vt:lpstr>Thoughts on the way forward (2)</vt:lpstr>
      <vt:lpstr>Thoughts on the way forward (3)</vt:lpstr>
      <vt:lpstr>Thoughts on the way forward (4)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quick review of the proposed jumbo flying squid models</dc:title>
  <dc:creator/>
  <cp:lastModifiedBy>Patrick Cordue</cp:lastModifiedBy>
  <cp:revision>21</cp:revision>
  <dcterms:created xsi:type="dcterms:W3CDTF">2006-08-16T00:00:00Z</dcterms:created>
  <dcterms:modified xsi:type="dcterms:W3CDTF">2018-09-01T03:01:45Z</dcterms:modified>
</cp:coreProperties>
</file>